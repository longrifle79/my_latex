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_rels/presentation.xml.rels" ContentType="application/vnd.openxmlformats-package.relationships+xml"/>
  <Override PartName="/ppt/media/image1.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p:nvPr>
        </p:nvSpPr>
        <p:spPr>
          <a:xfrm>
            <a:off x="504000" y="1326600"/>
            <a:ext cx="9071640" cy="32882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21E2485F-7488-46B7-9AC3-A9A33B1BF1FE}"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B4E2BAE-8036-4C6D-95F7-64315A69E90B}"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fld id="{674A7422-A8AB-4B10-92EE-5FCD01639ED0}"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1640" cy="2059920"/>
          </a:xfrm>
          <a:prstGeom prst="rect">
            <a:avLst/>
          </a:prstGeom>
          <a:noFill/>
          <a:ln w="0">
            <a:noFill/>
          </a:ln>
        </p:spPr>
        <p:txBody>
          <a:bodyPr lIns="0" rIns="0" tIns="0" bIns="0" anchor="ctr">
            <a:noAutofit/>
          </a:bodyPr>
          <a:p>
            <a:pPr indent="0">
              <a:spcBef>
                <a:spcPts val="1191"/>
              </a:spcBef>
              <a:spcAft>
                <a:spcPts val="992"/>
              </a:spcAft>
              <a:buNone/>
            </a:pPr>
            <a:r>
              <a:rPr b="1" lang="en-US" sz="1600" spc="-1" strike="noStrike">
                <a:solidFill>
                  <a:srgbClr val="000000"/>
                </a:solidFill>
                <a:latin typeface="Arial"/>
              </a:rPr>
              <a:t>Quenchbliss Organizational and Motivational Strategy</a:t>
            </a:r>
            <a:br>
              <a:rPr sz="1600"/>
            </a:br>
            <a:r>
              <a:rPr b="1" lang="en-US" sz="1600" spc="-1" strike="noStrike">
                <a:solidFill>
                  <a:srgbClr val="000000"/>
                </a:solidFill>
                <a:latin typeface="Arial"/>
              </a:rPr>
              <a:t>Gary Hobson</a:t>
            </a:r>
            <a:br>
              <a:rPr sz="1600"/>
            </a:br>
            <a:r>
              <a:rPr b="1" lang="en-US" sz="1600" spc="-1" strike="noStrike">
                <a:solidFill>
                  <a:srgbClr val="000000"/>
                </a:solidFill>
                <a:latin typeface="Arial"/>
              </a:rPr>
              <a:t>June 4, 2025</a:t>
            </a:r>
            <a:br>
              <a:rPr sz="1600"/>
            </a:br>
            <a:r>
              <a:rPr b="1" lang="en-US" sz="1600" spc="-1" strike="noStrike">
                <a:solidFill>
                  <a:srgbClr val="000000"/>
                </a:solidFill>
                <a:latin typeface="Arial"/>
              </a:rPr>
              <a:t>Organizational Behavior</a:t>
            </a:r>
            <a:br>
              <a:rPr sz="1000"/>
            </a:br>
            <a:endParaRPr b="0" lang="en-US" sz="1600" spc="-1" strike="noStrike">
              <a:solidFill>
                <a:srgbClr val="000000"/>
              </a:solidFill>
              <a:latin typeface="Arial"/>
            </a:endParaRPr>
          </a:p>
        </p:txBody>
      </p:sp>
      <p:sp>
        <p:nvSpPr>
          <p:cNvPr id="10" name="PlaceHolder 2"/>
          <p:cNvSpPr>
            <a:spLocks noGrp="1"/>
          </p:cNvSpPr>
          <p:nvPr>
            <p:ph type="subTitle"/>
          </p:nvPr>
        </p:nvSpPr>
        <p:spPr>
          <a:xfrm>
            <a:off x="529560" y="3040200"/>
            <a:ext cx="9071640" cy="1692000"/>
          </a:xfrm>
          <a:prstGeom prst="rect">
            <a:avLst/>
          </a:prstGeom>
          <a:noFill/>
          <a:ln w="0">
            <a:noFill/>
          </a:ln>
        </p:spPr>
        <p:txBody>
          <a:bodyPr lIns="0" rIns="0" tIns="0" bIns="0" anchor="ctr">
            <a:noAutofit/>
          </a:bodyPr>
          <a:p>
            <a:pPr indent="0">
              <a:spcBef>
                <a:spcPts val="1191"/>
              </a:spcBef>
              <a:spcAft>
                <a:spcPts val="992"/>
              </a:spcAft>
              <a:buNone/>
            </a:pPr>
            <a:r>
              <a:rPr b="0" lang="en-US" sz="1400" spc="-1" strike="noStrike">
                <a:solidFill>
                  <a:srgbClr val="000000"/>
                </a:solidFill>
                <a:latin typeface="Arial"/>
              </a:rPr>
              <a:t>Welcome to my presentation on Quenchbliss’s organizational and motivational strategy, designed to address critical challenges and opportunities as the company grows. As an Organizational Behavior Consultant, I’ve developed this plan based on our SWOT analysis, focusing on high turnover, unclear roles, and international expansion goals. Today, I’ll propose a new organizational structure to enhance efficiency and scalability, alongside motivational strategies to boost employee engagement. These recommendations aim to reduce turnover, support expansion into Jamaica and the Dominican Republic, and align with Quenchbliss’s innovative culture. This presentation is vital for ensuring Quenchbliss’s long-term success in a competitive craft soda market.</a:t>
            </a:r>
            <a:endParaRPr b="0" lang="en-US" sz="1400" spc="-1" strike="noStrike">
              <a:solidFill>
                <a:srgbClr val="000000"/>
              </a:solidFill>
              <a:latin typeface="Arial"/>
            </a:endParaRPr>
          </a:p>
          <a:p>
            <a:pPr indent="0">
              <a:spcBef>
                <a:spcPts val="1191"/>
              </a:spcBef>
              <a:spcAft>
                <a:spcPts val="992"/>
              </a:spcAft>
              <a:buNone/>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spcBef>
                <a:spcPts val="1191"/>
              </a:spcBef>
              <a:spcAft>
                <a:spcPts val="992"/>
              </a:spcAft>
              <a:buNone/>
            </a:pPr>
            <a:r>
              <a:rPr b="1" lang="en-US" sz="2000" spc="-1" strike="noStrike">
                <a:solidFill>
                  <a:srgbClr val="000000"/>
                </a:solidFill>
                <a:latin typeface="Arial"/>
              </a:rPr>
              <a:t>Introduction</a:t>
            </a:r>
            <a:br>
              <a:rPr sz="1600"/>
            </a:br>
            <a:endParaRPr b="1" lang="en-US" sz="2000" spc="-1" strike="noStrike">
              <a:solidFill>
                <a:srgbClr val="000000"/>
              </a:solidFill>
              <a:latin typeface="Arial"/>
            </a:endParaRPr>
          </a:p>
        </p:txBody>
      </p:sp>
      <p:sp>
        <p:nvSpPr>
          <p:cNvPr id="12" name="PlaceHolder 2"/>
          <p:cNvSpPr>
            <a:spLocks noGrp="1"/>
          </p:cNvSpPr>
          <p:nvPr>
            <p:ph/>
          </p:nvPr>
        </p:nvSpPr>
        <p:spPr>
          <a:xfrm>
            <a:off x="504000" y="1098000"/>
            <a:ext cx="9071640" cy="233100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Purpose: Restructure Quenchbliss and enhance motivation</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SWOT Weaknesses:</a:t>
            </a:r>
            <a:endParaRPr b="0" lang="en-US" sz="1000" spc="-1" strike="noStrike">
              <a:solidFill>
                <a:srgbClr val="000000"/>
              </a:solidFill>
              <a:latin typeface="Arial"/>
            </a:endParaRPr>
          </a:p>
          <a:p>
            <a:pPr lvl="1" marL="864000" indent="-324000">
              <a:spcBef>
                <a:spcPts val="1191"/>
              </a:spcBef>
              <a:spcAft>
                <a:spcPts val="992"/>
              </a:spcAft>
              <a:buClr>
                <a:srgbClr val="000000"/>
              </a:buClr>
              <a:buSzPct val="75000"/>
              <a:buFont typeface="Symbol" charset="2"/>
              <a:buChar char=""/>
            </a:pPr>
            <a:r>
              <a:rPr b="0" lang="en-US" sz="1000" spc="-1" strike="noStrike">
                <a:solidFill>
                  <a:srgbClr val="000000"/>
                </a:solidFill>
                <a:latin typeface="Arial"/>
              </a:rPr>
              <a:t>High turnover in production roles</a:t>
            </a:r>
            <a:endParaRPr b="0" lang="en-US" sz="1000" spc="-1" strike="noStrike">
              <a:solidFill>
                <a:srgbClr val="000000"/>
              </a:solidFill>
              <a:latin typeface="Arial"/>
            </a:endParaRPr>
          </a:p>
          <a:p>
            <a:pPr lvl="1" marL="864000" indent="-324000">
              <a:spcBef>
                <a:spcPts val="1191"/>
              </a:spcBef>
              <a:spcAft>
                <a:spcPts val="992"/>
              </a:spcAft>
              <a:buClr>
                <a:srgbClr val="000000"/>
              </a:buClr>
              <a:buSzPct val="75000"/>
              <a:buFont typeface="Symbol" charset="2"/>
              <a:buChar char=""/>
            </a:pPr>
            <a:r>
              <a:rPr b="0" lang="en-US" sz="1000" spc="-1" strike="noStrike">
                <a:solidFill>
                  <a:srgbClr val="000000"/>
                </a:solidFill>
                <a:latin typeface="Arial"/>
              </a:rPr>
              <a:t>Unclear roles due to organic structure</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SWOT Opportunities:</a:t>
            </a:r>
            <a:endParaRPr b="0" lang="en-US" sz="1000" spc="-1" strike="noStrike">
              <a:solidFill>
                <a:srgbClr val="000000"/>
              </a:solidFill>
              <a:latin typeface="Arial"/>
            </a:endParaRPr>
          </a:p>
          <a:p>
            <a:pPr lvl="1" marL="864000" indent="-324000">
              <a:spcBef>
                <a:spcPts val="1191"/>
              </a:spcBef>
              <a:spcAft>
                <a:spcPts val="992"/>
              </a:spcAft>
              <a:buClr>
                <a:srgbClr val="000000"/>
              </a:buClr>
              <a:buSzPct val="75000"/>
              <a:buFont typeface="Symbol" charset="2"/>
              <a:buChar char=""/>
            </a:pPr>
            <a:r>
              <a:rPr b="0" lang="en-US" sz="1000" spc="-1" strike="noStrike">
                <a:solidFill>
                  <a:srgbClr val="000000"/>
                </a:solidFill>
                <a:latin typeface="Arial"/>
              </a:rPr>
              <a:t>Expansion into Jamaica and Dominican Republic</a:t>
            </a:r>
            <a:endParaRPr b="0" lang="en-US" sz="1000" spc="-1" strike="noStrike">
              <a:solidFill>
                <a:srgbClr val="000000"/>
              </a:solidFill>
              <a:latin typeface="Arial"/>
            </a:endParaRPr>
          </a:p>
          <a:p>
            <a:pPr lvl="1" marL="864000" indent="-324000">
              <a:spcBef>
                <a:spcPts val="1191"/>
              </a:spcBef>
              <a:spcAft>
                <a:spcPts val="992"/>
              </a:spcAft>
              <a:buClr>
                <a:srgbClr val="000000"/>
              </a:buClr>
              <a:buSzPct val="75000"/>
              <a:buFont typeface="Symbol" charset="2"/>
              <a:buChar char=""/>
            </a:pPr>
            <a:r>
              <a:rPr b="0" lang="en-US" sz="1000" spc="-1" strike="noStrike">
                <a:solidFill>
                  <a:srgbClr val="000000"/>
                </a:solidFill>
                <a:latin typeface="Arial"/>
              </a:rPr>
              <a:t>Growing craft beverage demand</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Overview: Propose matrix structure, three motivational strategies</a:t>
            </a:r>
            <a:endParaRPr b="0" lang="en-US" sz="1000" spc="-1" strike="noStrike">
              <a:solidFill>
                <a:srgbClr val="000000"/>
              </a:solidFill>
              <a:latin typeface="Arial"/>
            </a:endParaRPr>
          </a:p>
        </p:txBody>
      </p:sp>
      <p:sp>
        <p:nvSpPr>
          <p:cNvPr id="13" name=""/>
          <p:cNvSpPr txBox="1"/>
          <p:nvPr/>
        </p:nvSpPr>
        <p:spPr>
          <a:xfrm>
            <a:off x="529560" y="3612600"/>
            <a:ext cx="9071640" cy="118800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r>
              <a:rPr b="0" lang="en-US" sz="1000" spc="-1" strike="noStrike">
                <a:solidFill>
                  <a:srgbClr val="000000"/>
                </a:solidFill>
                <a:latin typeface="Arial"/>
              </a:rPr>
              <a:t>Quenchbliss faces significant challenges and opportunities as it grows, as </a:t>
            </a:r>
            <a:r>
              <a:rPr b="0" lang="en-US" sz="1000" spc="-1" strike="noStrike">
                <a:solidFill>
                  <a:srgbClr val="000000"/>
                </a:solidFill>
                <a:latin typeface="Arial"/>
              </a:rPr>
              <a:t>identified in our SWOT analysis. High turnover in production roles and unclear </a:t>
            </a:r>
            <a:r>
              <a:rPr b="0" lang="en-US" sz="1000" spc="-1" strike="noStrike">
                <a:solidFill>
                  <a:srgbClr val="000000"/>
                </a:solidFill>
                <a:latin typeface="Arial"/>
              </a:rPr>
              <a:t>responsibilities in the current organic structure hinder efficiency, while </a:t>
            </a:r>
            <a:r>
              <a:rPr b="0" lang="en-US" sz="1000" spc="-1" strike="noStrike">
                <a:solidFill>
                  <a:srgbClr val="000000"/>
                </a:solidFill>
                <a:latin typeface="Arial"/>
              </a:rPr>
              <a:t>expansion into Jamaica and the Dominican Republic offers growth potential in </a:t>
            </a:r>
            <a:r>
              <a:rPr b="0" lang="en-US" sz="1000" spc="-1" strike="noStrike">
                <a:solidFill>
                  <a:srgbClr val="000000"/>
                </a:solidFill>
                <a:latin typeface="Arial"/>
              </a:rPr>
              <a:t>a booming craft beverage market. This presentation proposes a matrix </a:t>
            </a:r>
            <a:r>
              <a:rPr b="0" lang="en-US" sz="1000" spc="-1" strike="noStrike">
                <a:solidFill>
                  <a:srgbClr val="000000"/>
                </a:solidFill>
                <a:latin typeface="Arial"/>
              </a:rPr>
              <a:t>organizational structure to formalize roles and support international operations, </a:t>
            </a:r>
            <a:r>
              <a:rPr b="0" lang="en-US" sz="1000" spc="-1" strike="noStrike">
                <a:solidFill>
                  <a:srgbClr val="000000"/>
                </a:solidFill>
                <a:latin typeface="Arial"/>
              </a:rPr>
              <a:t>addressing turnover and scalability needs. Additionally, we’ll introduce three </a:t>
            </a:r>
            <a:r>
              <a:rPr b="0" lang="en-US" sz="1000" spc="-1" strike="noStrike">
                <a:solidFill>
                  <a:srgbClr val="000000"/>
                </a:solidFill>
                <a:latin typeface="Arial"/>
              </a:rPr>
              <a:t>motivational strategies to boost employee engagement, leveraging </a:t>
            </a:r>
            <a:r>
              <a:rPr b="0" lang="en-US" sz="1000" spc="-1" strike="noStrike">
                <a:solidFill>
                  <a:srgbClr val="000000"/>
                </a:solidFill>
                <a:latin typeface="Arial"/>
              </a:rPr>
              <a:t>motivational theories to ensure retention and performance. These changes are </a:t>
            </a:r>
            <a:r>
              <a:rPr b="0" lang="en-US" sz="1000" spc="-1" strike="noStrike">
                <a:solidFill>
                  <a:srgbClr val="000000"/>
                </a:solidFill>
                <a:latin typeface="Arial"/>
              </a:rPr>
              <a:t>critical to align Quenchbliss’s structure and culture with its ambitious five-year </a:t>
            </a:r>
            <a:r>
              <a:rPr b="0" lang="en-US" sz="1000" spc="-1" strike="noStrike">
                <a:solidFill>
                  <a:srgbClr val="000000"/>
                </a:solidFill>
                <a:latin typeface="Arial"/>
              </a:rPr>
              <a:t>expansion goals.</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spcBef>
                <a:spcPts val="1191"/>
              </a:spcBef>
              <a:spcAft>
                <a:spcPts val="992"/>
              </a:spcAft>
              <a:buNone/>
            </a:pPr>
            <a:r>
              <a:rPr b="1" lang="en-US" sz="1600" spc="-1" strike="noStrike">
                <a:solidFill>
                  <a:srgbClr val="000000"/>
                </a:solidFill>
                <a:latin typeface="Arial"/>
              </a:rPr>
              <a:t>Proposed Organizational Structure</a:t>
            </a:r>
            <a:br>
              <a:rPr sz="1600"/>
            </a:br>
            <a:endParaRPr b="1" lang="en-US" sz="1600" spc="-1" strike="noStrike">
              <a:solidFill>
                <a:srgbClr val="000000"/>
              </a:solidFill>
              <a:latin typeface="Arial"/>
            </a:endParaRPr>
          </a:p>
        </p:txBody>
      </p:sp>
      <p:sp>
        <p:nvSpPr>
          <p:cNvPr id="15" name="PlaceHolder 2"/>
          <p:cNvSpPr>
            <a:spLocks noGrp="1"/>
          </p:cNvSpPr>
          <p:nvPr>
            <p:ph/>
          </p:nvPr>
        </p:nvSpPr>
        <p:spPr>
          <a:xfrm>
            <a:off x="300960" y="3657600"/>
            <a:ext cx="9071640" cy="1600200"/>
          </a:xfrm>
          <a:prstGeom prst="rect">
            <a:avLst/>
          </a:prstGeom>
          <a:noFill/>
          <a:ln w="0">
            <a:noFill/>
          </a:ln>
        </p:spPr>
        <p:txBody>
          <a:bodyPr lIns="0" rIns="0" tIns="0" bIns="0" anchor="t">
            <a:normAutofit/>
          </a:bodyPr>
          <a:p>
            <a:pPr marL="432000" indent="0">
              <a:spcBef>
                <a:spcPts val="1191"/>
              </a:spcBef>
              <a:spcAft>
                <a:spcPts val="992"/>
              </a:spcAft>
              <a:buNone/>
            </a:pPr>
            <a:r>
              <a:rPr b="0" lang="en-US" sz="1200" spc="-1" strike="noStrike">
                <a:solidFill>
                  <a:srgbClr val="000000"/>
                </a:solidFill>
                <a:latin typeface="Arial"/>
              </a:rPr>
              <a:t>To address Quenchbliss’s growth needs, I recommend transitioning to a matrix organizational structure, blending functional and geographic divisions. Functional departments, like production and marketing, ensure specialized expertise, while geographic divisions for El Paso, Juarez, Jamaica, and the Dominican Republic support localized operations. This structure formalizes roles, reducing the ambiguity of the current “everybody does everything” approach, a key SWOT weakness. It enhances coordination for international expansion, aligning with the SWOT opportunity of new markets. The matrix balances mechanistic efficiency with flexibility, ensuring Quenchbliss can scale effectively while maintaining innovation (Sophia Learning, n.d., Organizational Designs).</a:t>
            </a:r>
            <a:endParaRPr b="0" lang="en-US" sz="1200" spc="-1" strike="noStrike">
              <a:solidFill>
                <a:srgbClr val="000000"/>
              </a:solidFill>
              <a:latin typeface="Arial"/>
            </a:endParaRPr>
          </a:p>
        </p:txBody>
      </p:sp>
      <p:sp>
        <p:nvSpPr>
          <p:cNvPr id="16" name=""/>
          <p:cNvSpPr txBox="1"/>
          <p:nvPr/>
        </p:nvSpPr>
        <p:spPr>
          <a:xfrm>
            <a:off x="685800" y="852120"/>
            <a:ext cx="7111800" cy="2718360"/>
          </a:xfrm>
          <a:prstGeom prst="rect">
            <a:avLst/>
          </a:prstGeom>
          <a:noFill/>
          <a:ln w="0">
            <a:noFill/>
          </a:ln>
        </p:spPr>
        <p:txBody>
          <a:bodyPr lIns="90000" rIns="90000" tIns="45000" bIns="45000" anchor="t">
            <a:noAutofit/>
          </a:bodyPr>
          <a:p>
            <a:r>
              <a:rPr b="1" lang="en-US" sz="1000" spc="-1" strike="noStrike">
                <a:solidFill>
                  <a:srgbClr val="000000"/>
                </a:solidFill>
                <a:latin typeface="Arial"/>
              </a:rPr>
              <a:t>Matrix Structure Overview:</a:t>
            </a:r>
            <a:endParaRPr b="0" lang="en-US" sz="1000" spc="-1" strike="noStrike">
              <a:solidFill>
                <a:srgbClr val="000000"/>
              </a:solidFill>
              <a:latin typeface="Arial"/>
            </a:endParaRPr>
          </a:p>
          <a:p>
            <a:r>
              <a:rPr b="1" lang="en-US" sz="1000" spc="-1" strike="noStrike">
                <a:solidFill>
                  <a:srgbClr val="000000"/>
                </a:solidFill>
                <a:latin typeface="Arial"/>
              </a:rPr>
              <a:t>Combines functional (e.g., production, marketing) and geographic divisions (El Paso, Juarez, Jamaica, Dominican Republic)</a:t>
            </a:r>
            <a:endParaRPr b="0" lang="en-US" sz="1000" spc="-1" strike="noStrike">
              <a:solidFill>
                <a:srgbClr val="000000"/>
              </a:solidFill>
              <a:latin typeface="Arial"/>
            </a:endParaRPr>
          </a:p>
          <a:p>
            <a:r>
              <a:rPr b="1" lang="en-US" sz="1000" spc="-1" strike="noStrike">
                <a:solidFill>
                  <a:srgbClr val="000000"/>
                </a:solidFill>
                <a:latin typeface="Arial"/>
              </a:rPr>
              <a:t>Key Features:</a:t>
            </a:r>
            <a:endParaRPr b="0" lang="en-US" sz="1000" spc="-1" strike="noStrike">
              <a:solidFill>
                <a:srgbClr val="000000"/>
              </a:solidFill>
              <a:latin typeface="Arial"/>
            </a:endParaRPr>
          </a:p>
          <a:p>
            <a:r>
              <a:rPr b="1" lang="en-US" sz="1000" spc="-1" strike="noStrike">
                <a:solidFill>
                  <a:srgbClr val="000000"/>
                </a:solidFill>
                <a:latin typeface="Arial"/>
              </a:rPr>
              <a:t>Formalized roles and reporting lines</a:t>
            </a:r>
            <a:endParaRPr b="0" lang="en-US" sz="1000" spc="-1" strike="noStrike">
              <a:solidFill>
                <a:srgbClr val="000000"/>
              </a:solidFill>
              <a:latin typeface="Arial"/>
            </a:endParaRPr>
          </a:p>
          <a:p>
            <a:r>
              <a:rPr b="1" lang="en-US" sz="1000" spc="-1" strike="noStrike">
                <a:solidFill>
                  <a:srgbClr val="000000"/>
                </a:solidFill>
                <a:latin typeface="Arial"/>
              </a:rPr>
              <a:t>Enhanced coordination for international expansion</a:t>
            </a:r>
            <a:endParaRPr b="0" lang="en-US" sz="1000" spc="-1" strike="noStrike">
              <a:solidFill>
                <a:srgbClr val="000000"/>
              </a:solidFill>
              <a:latin typeface="Arial"/>
            </a:endParaRPr>
          </a:p>
          <a:p>
            <a:r>
              <a:rPr b="1" lang="en-US" sz="1000" spc="-1" strike="noStrike">
                <a:solidFill>
                  <a:srgbClr val="000000"/>
                </a:solidFill>
                <a:latin typeface="Arial"/>
              </a:rPr>
              <a:t>Benefits:</a:t>
            </a:r>
            <a:endParaRPr b="0" lang="en-US" sz="1000" spc="-1" strike="noStrike">
              <a:solidFill>
                <a:srgbClr val="000000"/>
              </a:solidFill>
              <a:latin typeface="Arial"/>
            </a:endParaRPr>
          </a:p>
          <a:p>
            <a:r>
              <a:rPr b="1" lang="en-US" sz="1000" spc="-1" strike="noStrike">
                <a:solidFill>
                  <a:srgbClr val="000000"/>
                </a:solidFill>
                <a:latin typeface="Arial"/>
              </a:rPr>
              <a:t>Reduces ambiguity, improves efficiency</a:t>
            </a:r>
            <a:endParaRPr b="0" lang="en-US" sz="1000" spc="-1" strike="noStrike">
              <a:solidFill>
                <a:srgbClr val="000000"/>
              </a:solidFill>
              <a:latin typeface="Arial"/>
            </a:endParaRPr>
          </a:p>
          <a:p>
            <a:r>
              <a:rPr b="1" lang="en-US" sz="1000" spc="-1" strike="noStrike">
                <a:solidFill>
                  <a:srgbClr val="000000"/>
                </a:solidFill>
                <a:latin typeface="Arial"/>
              </a:rPr>
              <a:t>Scalable for new markets</a:t>
            </a:r>
            <a:endParaRPr b="0" lang="en-US" sz="1000" spc="-1" strike="noStrike">
              <a:solidFill>
                <a:srgbClr val="000000"/>
              </a:solidFill>
              <a:latin typeface="Arial"/>
            </a:endParaRPr>
          </a:p>
          <a:p>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spcBef>
                <a:spcPts val="1191"/>
              </a:spcBef>
              <a:spcAft>
                <a:spcPts val="992"/>
              </a:spcAft>
              <a:buNone/>
            </a:pPr>
            <a:r>
              <a:rPr b="1" lang="en-US" sz="1600" spc="-1" strike="noStrike">
                <a:solidFill>
                  <a:srgbClr val="000000"/>
                </a:solidFill>
                <a:latin typeface="Arial"/>
              </a:rPr>
              <a:t>Justification for Matrix Structure</a:t>
            </a:r>
            <a:br>
              <a:rPr sz="1600"/>
            </a:br>
            <a:endParaRPr b="1" lang="en-US" sz="1600" spc="-1" strike="noStrike">
              <a:solidFill>
                <a:srgbClr val="000000"/>
              </a:solidFill>
              <a:latin typeface="Arial"/>
            </a:endParaRPr>
          </a:p>
        </p:txBody>
      </p:sp>
      <p:sp>
        <p:nvSpPr>
          <p:cNvPr id="18" name="PlaceHolder 2"/>
          <p:cNvSpPr>
            <a:spLocks noGrp="1"/>
          </p:cNvSpPr>
          <p:nvPr>
            <p:ph/>
          </p:nvPr>
        </p:nvSpPr>
        <p:spPr>
          <a:xfrm>
            <a:off x="529560" y="914400"/>
            <a:ext cx="9071640" cy="255960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Addresses SWOT Weaknesses:</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Reduces turnover by clarifying roles</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Mitigates internal friction from strategic shifts</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Supports SWOT Opportunities:</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Enables expansion into Jamaica and Dominican Republic</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Leverages growing craft beverage demand</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Why Matrix?</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Balances efficiency and flexibility</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Aligns with Quenchbliss’s innovation culture</a:t>
            </a:r>
            <a:endParaRPr b="1" lang="en-US" sz="1000" spc="-1" strike="noStrike">
              <a:solidFill>
                <a:srgbClr val="000000"/>
              </a:solidFill>
              <a:latin typeface="Arial"/>
            </a:endParaRPr>
          </a:p>
        </p:txBody>
      </p:sp>
      <p:sp>
        <p:nvSpPr>
          <p:cNvPr id="19" name=""/>
          <p:cNvSpPr txBox="1"/>
          <p:nvPr/>
        </p:nvSpPr>
        <p:spPr>
          <a:xfrm>
            <a:off x="529560" y="3612600"/>
            <a:ext cx="9071640" cy="164520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r>
              <a:rPr b="0" lang="en-US" sz="1200" spc="-1" strike="noStrike">
                <a:solidFill>
                  <a:srgbClr val="000000"/>
                </a:solidFill>
                <a:latin typeface="Arial"/>
              </a:rPr>
              <a:t>The matrix structure is ideal for Quenchbliss because it directly addresses our SWOT analysis findings. By clarifying roles and reporting lines, it reduces high turnover in production roles, a major weakness, as employees gain clear expectations and career paths. It also mitigates internal friction from strategic shifts by providing structure during expansion. The matrix supports SWOT opportunities, enabling efficient operations in new markets like Jamaica and the Dominican Republic, where craft beverage demand is growing (Beverage Industry, 2025). Its blend of mechanistic efficiency and flexibility aligns with Quenchbliss’s innovative culture, ensuring scalability without sacrificing creativity (Sophia Learning, n.d., Organizational Designs).</a:t>
            </a:r>
            <a:endParaRPr b="0" lang="en-US" sz="12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0" lang="en-US" sz="1000" spc="-1" strike="noStrike">
                <a:solidFill>
                  <a:srgbClr val="000000"/>
                </a:solidFill>
                <a:latin typeface="Arial"/>
              </a:rPr>
              <a:t> </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spcBef>
                <a:spcPts val="1191"/>
              </a:spcBef>
              <a:spcAft>
                <a:spcPts val="992"/>
              </a:spcAft>
              <a:buNone/>
            </a:pPr>
            <a:r>
              <a:rPr b="1" lang="en-US" sz="1600" spc="-1" strike="noStrike">
                <a:solidFill>
                  <a:srgbClr val="000000"/>
                </a:solidFill>
                <a:latin typeface="Arial"/>
              </a:rPr>
              <a:t>Organizational Structure Graphic</a:t>
            </a:r>
            <a:br>
              <a:rPr sz="1600"/>
            </a:br>
            <a:endParaRPr b="1" lang="en-US" sz="1600" spc="-1" strike="noStrike">
              <a:solidFill>
                <a:srgbClr val="000000"/>
              </a:solidFill>
              <a:latin typeface="Arial"/>
            </a:endParaRPr>
          </a:p>
        </p:txBody>
      </p:sp>
      <p:sp>
        <p:nvSpPr>
          <p:cNvPr id="21" name="PlaceHolder 2"/>
          <p:cNvSpPr>
            <a:spLocks noGrp="1"/>
          </p:cNvSpPr>
          <p:nvPr>
            <p:ph/>
          </p:nvPr>
        </p:nvSpPr>
        <p:spPr>
          <a:xfrm>
            <a:off x="504000" y="1326600"/>
            <a:ext cx="4753800" cy="187380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Graphic: Matrix Organizational Chart</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Top: CEO</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Functional Divisions: Production, Marketing, R&amp;D, HR</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Geographic Divisions: El Paso, Juarez, Jamaica, Dominican Republic</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Dual reporting lines (functional and geographic managers)</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Caption: “Matrix Structure for Quenchbliss’s Global Operations”</a:t>
            </a:r>
            <a:endParaRPr b="1" lang="en-US" sz="1000" spc="-1" strike="noStrike">
              <a:solidFill>
                <a:srgbClr val="000000"/>
              </a:solidFill>
              <a:latin typeface="Arial"/>
            </a:endParaRPr>
          </a:p>
        </p:txBody>
      </p:sp>
      <p:sp>
        <p:nvSpPr>
          <p:cNvPr id="22" name=""/>
          <p:cNvSpPr txBox="1"/>
          <p:nvPr/>
        </p:nvSpPr>
        <p:spPr>
          <a:xfrm>
            <a:off x="457200" y="3384000"/>
            <a:ext cx="9071640" cy="187380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endParaRPr b="0" lang="en-US" sz="3200" spc="-1" strike="noStrike">
              <a:solidFill>
                <a:srgbClr val="000000"/>
              </a:solidFill>
              <a:latin typeface="Arial"/>
            </a:endParaRPr>
          </a:p>
        </p:txBody>
      </p:sp>
      <p:sp>
        <p:nvSpPr>
          <p:cNvPr id="23" name=""/>
          <p:cNvSpPr txBox="1"/>
          <p:nvPr/>
        </p:nvSpPr>
        <p:spPr>
          <a:xfrm>
            <a:off x="457200" y="3429000"/>
            <a:ext cx="9372600" cy="1495800"/>
          </a:xfrm>
          <a:prstGeom prst="rect">
            <a:avLst/>
          </a:prstGeom>
          <a:noFill/>
          <a:ln w="0">
            <a:noFill/>
          </a:ln>
        </p:spPr>
        <p:txBody>
          <a:bodyPr lIns="90000" rIns="90000" tIns="45000" bIns="45000" anchor="t">
            <a:noAutofit/>
          </a:bodyPr>
          <a:p>
            <a:r>
              <a:rPr b="0" lang="en-US" sz="1000" spc="-1" strike="noStrike">
                <a:solidFill>
                  <a:srgbClr val="000000"/>
                </a:solidFill>
                <a:latin typeface="Arial"/>
              </a:rPr>
              <a:t>This organizational chart illustrates Quenchbliss’s proposed matrix structure, designed for global scalability. The CEO oversees functional divisions Production, Marketing, R&amp;D, and HR ensuring specialized expertise. Geographic divisions for El Paso, Juarez, Jamaica, and the Dominican Republic manage local operations, with dual reporting lines to both functional and geographic managers. This structure clarifies roles, reducing turnover by providing defined responsibilities, and supports expansion by aligning resources across regions. The matrix fosters collaboration, leveraging Quenchbliss’s innovative culture while introducing mechanistic efficiency for growth (Sophia Learning, n.d., Organizational Designs).</a:t>
            </a:r>
            <a:endParaRPr b="0" lang="en-US" sz="1000" spc="-1" strike="noStrike">
              <a:solidFill>
                <a:srgbClr val="000000"/>
              </a:solidFill>
              <a:latin typeface="Arial"/>
            </a:endParaRPr>
          </a:p>
        </p:txBody>
      </p:sp>
      <p:pic>
        <p:nvPicPr>
          <p:cNvPr id="24" name="" descr=""/>
          <p:cNvPicPr/>
          <p:nvPr/>
        </p:nvPicPr>
        <p:blipFill>
          <a:blip r:embed="rId1"/>
          <a:stretch/>
        </p:blipFill>
        <p:spPr>
          <a:xfrm>
            <a:off x="5943600" y="47880"/>
            <a:ext cx="4008240" cy="566964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spcBef>
                <a:spcPts val="1191"/>
              </a:spcBef>
              <a:spcAft>
                <a:spcPts val="992"/>
              </a:spcAft>
              <a:buNone/>
            </a:pPr>
            <a:r>
              <a:rPr b="1" lang="en-US" sz="1600" spc="-1" strike="noStrike">
                <a:solidFill>
                  <a:srgbClr val="000000"/>
                </a:solidFill>
                <a:latin typeface="Arial"/>
              </a:rPr>
              <a:t>Motivational Strategy 1 - Promotion Pathways</a:t>
            </a:r>
            <a:endParaRPr b="0" lang="en-US" sz="1600" spc="-1" strike="noStrike">
              <a:solidFill>
                <a:srgbClr val="000000"/>
              </a:solidFill>
              <a:latin typeface="Arial"/>
            </a:endParaRPr>
          </a:p>
        </p:txBody>
      </p:sp>
      <p:sp>
        <p:nvSpPr>
          <p:cNvPr id="26" name="PlaceHolder 2"/>
          <p:cNvSpPr>
            <a:spLocks noGrp="1"/>
          </p:cNvSpPr>
          <p:nvPr>
            <p:ph/>
          </p:nvPr>
        </p:nvSpPr>
        <p:spPr>
          <a:xfrm>
            <a:off x="275400" y="914400"/>
            <a:ext cx="4753800" cy="2788200"/>
          </a:xfrm>
          <a:prstGeom prst="rect">
            <a:avLst/>
          </a:prstGeom>
          <a:noFill/>
          <a:ln w="0">
            <a:noFill/>
          </a:ln>
        </p:spPr>
        <p:txBody>
          <a:bodyPr lIns="0" rIns="0" tIns="0" bIns="0" anchor="t">
            <a:normAutofit/>
          </a:bodyPr>
          <a:p>
            <a:pPr marL="432000" indent="0">
              <a:spcBef>
                <a:spcPts val="1191"/>
              </a:spcBef>
              <a:spcAft>
                <a:spcPts val="992"/>
              </a:spcAft>
              <a:buNone/>
            </a:pPr>
            <a:endParaRPr b="1" lang="en-US" sz="16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Strategy: Define clear promotion pathways with transparent criteria</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Motivational Theory: Expectancy Theory</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Rationale:</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Links effort to performance and promotions (effort-performance expectancy)</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Addresses turnover by clarifying career paths (SWOT weakness)</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Implementation:</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Create job ladders (e.g., production worker to team lead)</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Communicate criteria (e.g., sales targets, tenure)</a:t>
            </a:r>
            <a:endParaRPr b="0" lang="en-US" sz="1000" spc="-1" strike="noStrike">
              <a:solidFill>
                <a:srgbClr val="000000"/>
              </a:solidFill>
              <a:latin typeface="Arial"/>
            </a:endParaRPr>
          </a:p>
        </p:txBody>
      </p:sp>
      <p:sp>
        <p:nvSpPr>
          <p:cNvPr id="27" name=""/>
          <p:cNvSpPr txBox="1"/>
          <p:nvPr/>
        </p:nvSpPr>
        <p:spPr>
          <a:xfrm>
            <a:off x="5076000" y="869400"/>
            <a:ext cx="4753800" cy="278820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endParaRPr b="1" lang="en-US" sz="16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endParaRPr b="0" lang="en-US" sz="1000" spc="-1" strike="noStrike">
              <a:solidFill>
                <a:srgbClr val="000000"/>
              </a:solidFill>
              <a:latin typeface="Arial"/>
            </a:endParaRPr>
          </a:p>
        </p:txBody>
      </p:sp>
      <p:sp>
        <p:nvSpPr>
          <p:cNvPr id="28" name=""/>
          <p:cNvSpPr txBox="1"/>
          <p:nvPr/>
        </p:nvSpPr>
        <p:spPr>
          <a:xfrm>
            <a:off x="228600" y="3936240"/>
            <a:ext cx="9601200" cy="1782000"/>
          </a:xfrm>
          <a:prstGeom prst="rect">
            <a:avLst/>
          </a:prstGeom>
          <a:noFill/>
          <a:ln w="0">
            <a:noFill/>
          </a:ln>
        </p:spPr>
        <p:txBody>
          <a:bodyPr lIns="90000" rIns="90000" tIns="45000" bIns="45000" anchor="t">
            <a:noAutofit/>
          </a:bodyPr>
          <a:p>
            <a:r>
              <a:rPr b="0" lang="en-US" sz="1400" spc="-1" strike="noStrike">
                <a:solidFill>
                  <a:srgbClr val="000000"/>
                </a:solidFill>
                <a:latin typeface="Arial"/>
              </a:rPr>
              <a:t>Our first motivational strategy is to define clear promotion pathways, aligning with Expectancy Theory, which posits that employees are motivated when they believe effort leads to performance and valued outcomes. By establishing transparent criteria for advancement, such as sales targets for moving from production worker to team lead, we enhance effort-performance expectancy, addressing the SWOT weakness of high turnover due to unclear roles. This strategy motivates employees to stay and excel, knowing their efforts can lead to promotions. Implementation involves creating job ladders and communicating criteria through training and HR policies. This approach fosters retention and engagement, critical for Quenchbliss’s growth</a:t>
            </a:r>
            <a:endParaRPr b="0" lang="en-US" sz="1400" spc="-1" strike="noStrike">
              <a:solidFill>
                <a:srgbClr val="000000"/>
              </a:solidFill>
              <a:latin typeface="Arial"/>
            </a:endParaRPr>
          </a:p>
          <a:p>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spcBef>
                <a:spcPts val="1191"/>
              </a:spcBef>
              <a:spcAft>
                <a:spcPts val="992"/>
              </a:spcAft>
              <a:buNone/>
            </a:pPr>
            <a:r>
              <a:rPr b="1" lang="en-US" sz="1600" spc="-1" strike="noStrike">
                <a:solidFill>
                  <a:srgbClr val="000000"/>
                </a:solidFill>
                <a:latin typeface="Arial"/>
              </a:rPr>
              <a:t>Motivational Strategy 2 - Recognition Program</a:t>
            </a:r>
            <a:endParaRPr b="0" lang="en-US" sz="1600" spc="-1" strike="noStrike">
              <a:solidFill>
                <a:srgbClr val="000000"/>
              </a:solidFill>
              <a:latin typeface="Arial"/>
            </a:endParaRPr>
          </a:p>
        </p:txBody>
      </p:sp>
      <p:sp>
        <p:nvSpPr>
          <p:cNvPr id="30" name="PlaceHolder 2"/>
          <p:cNvSpPr>
            <a:spLocks noGrp="1"/>
          </p:cNvSpPr>
          <p:nvPr>
            <p:ph/>
          </p:nvPr>
        </p:nvSpPr>
        <p:spPr>
          <a:xfrm>
            <a:off x="504000" y="914400"/>
            <a:ext cx="9071640" cy="2514600"/>
          </a:xfrm>
          <a:prstGeom prst="rect">
            <a:avLst/>
          </a:prstGeom>
          <a:noFill/>
          <a:ln w="0">
            <a:noFill/>
          </a:ln>
        </p:spPr>
        <p:txBody>
          <a:bodyPr lIns="0" rIns="0" tIns="0" bIns="0" anchor="t">
            <a:normAutofit fontScale="93740"/>
          </a:bodyPr>
          <a:p>
            <a:pPr marL="432000" indent="0">
              <a:spcBef>
                <a:spcPts val="1191"/>
              </a:spcBef>
              <a:spcAft>
                <a:spcPts val="992"/>
              </a:spcAft>
              <a:buNone/>
            </a:pPr>
            <a:endParaRPr b="1" lang="en-US" sz="16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Strategy: Implement monthly recognition awards for top performers</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Motivational Theory: Herzberg’s Two-Factor Theory</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Rationale:</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Enhances motivators (recognition, achievement) for intrinsic satisfaction</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Reduces turnover by boosting morale (SWOT weakness)</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Implementation:</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Awards for sales, innovation, teamwork</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Public ceremonies to celebrate winners</a:t>
            </a:r>
            <a:endParaRPr b="0" lang="en-US" sz="1000" spc="-1" strike="noStrike">
              <a:solidFill>
                <a:srgbClr val="000000"/>
              </a:solidFill>
              <a:latin typeface="Arial"/>
            </a:endParaRPr>
          </a:p>
        </p:txBody>
      </p:sp>
      <p:sp>
        <p:nvSpPr>
          <p:cNvPr id="31" name=""/>
          <p:cNvSpPr txBox="1"/>
          <p:nvPr/>
        </p:nvSpPr>
        <p:spPr>
          <a:xfrm>
            <a:off x="529560" y="3657600"/>
            <a:ext cx="9071640" cy="251460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endParaRPr b="1" lang="en-US" sz="16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endParaRPr b="0" lang="en-US" sz="1000" spc="-1" strike="noStrike">
              <a:solidFill>
                <a:srgbClr val="000000"/>
              </a:solidFill>
              <a:latin typeface="Arial"/>
            </a:endParaRPr>
          </a:p>
        </p:txBody>
      </p:sp>
      <p:sp>
        <p:nvSpPr>
          <p:cNvPr id="32" name=""/>
          <p:cNvSpPr txBox="1"/>
          <p:nvPr/>
        </p:nvSpPr>
        <p:spPr>
          <a:xfrm>
            <a:off x="228600" y="3707640"/>
            <a:ext cx="9601200" cy="1782000"/>
          </a:xfrm>
          <a:prstGeom prst="rect">
            <a:avLst/>
          </a:prstGeom>
          <a:noFill/>
          <a:ln w="0">
            <a:noFill/>
          </a:ln>
        </p:spPr>
        <p:txBody>
          <a:bodyPr lIns="90000" rIns="90000" tIns="45000" bIns="45000" anchor="t">
            <a:noAutofit/>
          </a:bodyPr>
          <a:p>
            <a:r>
              <a:rPr b="0" lang="en-US" sz="1400" spc="-1" strike="noStrike">
                <a:solidFill>
                  <a:srgbClr val="000000"/>
                </a:solidFill>
                <a:latin typeface="Arial"/>
              </a:rPr>
              <a:t>The second strategy is a monthly recognition program, grounded in Herzberg’s Two-Factor Theory, which distinguishes motivators (e.g., recognition) that drive satisfaction from hygiene factors that prevent dissatisfaction. Recognizing top performers in sales, innovation, or teamwork fosters intrinsic motivation, addressing the SWOT weakness of high turnover by boosting employee morale and engagement. Public award ceremonies amplify the impact, reinforcing Quenchbliss’s clan-like culture. Implementation involves selecting winners based on clear metrics and celebrating them monthly. This strategy enhances retention and aligns with the growing craft beverage market’s need for motivated staff (Mintel, 2024; Sophia Learning, n.d., Fundamentals of Motivation).</a:t>
            </a:r>
            <a:endParaRPr b="0" lang="en-US" sz="1400" spc="-1" strike="noStrike">
              <a:solidFill>
                <a:srgbClr val="000000"/>
              </a:solidFill>
              <a:latin typeface="Arial"/>
            </a:endParaRPr>
          </a:p>
          <a:p>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spcBef>
                <a:spcPts val="1191"/>
              </a:spcBef>
              <a:spcAft>
                <a:spcPts val="992"/>
              </a:spcAft>
              <a:buNone/>
            </a:pPr>
            <a:r>
              <a:rPr b="1" lang="en-US" sz="1600" spc="-1" strike="noStrike">
                <a:solidFill>
                  <a:srgbClr val="000000"/>
                </a:solidFill>
                <a:latin typeface="Arial"/>
              </a:rPr>
              <a:t>Motivational Strategy 3 - Team-Based Incentives</a:t>
            </a:r>
            <a:br>
              <a:rPr sz="1600"/>
            </a:br>
            <a:endParaRPr b="1" lang="en-US" sz="1600" spc="-1" strike="noStrike">
              <a:solidFill>
                <a:srgbClr val="000000"/>
              </a:solidFill>
              <a:latin typeface="Arial"/>
            </a:endParaRPr>
          </a:p>
        </p:txBody>
      </p:sp>
      <p:sp>
        <p:nvSpPr>
          <p:cNvPr id="34" name="PlaceHolder 2"/>
          <p:cNvSpPr>
            <a:spLocks noGrp="1"/>
          </p:cNvSpPr>
          <p:nvPr>
            <p:ph/>
          </p:nvPr>
        </p:nvSpPr>
        <p:spPr>
          <a:xfrm>
            <a:off x="504000" y="640800"/>
            <a:ext cx="9071640" cy="3016800"/>
          </a:xfrm>
          <a:prstGeom prst="rect">
            <a:avLst/>
          </a:prstGeom>
          <a:noFill/>
          <a:ln w="0">
            <a:noFill/>
          </a:ln>
        </p:spPr>
        <p:txBody>
          <a:bodyPr lIns="0" rIns="0" tIns="0" bIns="0" anchor="t">
            <a:normAutofit/>
          </a:bodyPr>
          <a:p>
            <a:pPr marL="432000" indent="0">
              <a:spcBef>
                <a:spcPts val="1191"/>
              </a:spcBef>
              <a:spcAft>
                <a:spcPts val="992"/>
              </a:spcAft>
              <a:buNone/>
            </a:pPr>
            <a:endParaRPr b="1" lang="en-US" sz="16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Content:</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Strategy: Offer group bonuses for achieving sales/production goals</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Motivational Theory: Goal-Setting Theory</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Rationale:</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Specific, challenging goals increase collaboration and effort</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Supports expansion by fostering teamwork (SWOT opportunity)</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Implementation:</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Bonuses for regional teams meeting targets</a:t>
            </a:r>
            <a:endParaRPr b="0"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Quarterly goal reviews to maintain focus</a:t>
            </a:r>
            <a:endParaRPr b="0" lang="en-US" sz="1000" spc="-1" strike="noStrike">
              <a:solidFill>
                <a:srgbClr val="000000"/>
              </a:solidFill>
              <a:latin typeface="Arial"/>
            </a:endParaRPr>
          </a:p>
        </p:txBody>
      </p:sp>
      <p:sp>
        <p:nvSpPr>
          <p:cNvPr id="35" name=""/>
          <p:cNvSpPr txBox="1"/>
          <p:nvPr/>
        </p:nvSpPr>
        <p:spPr>
          <a:xfrm>
            <a:off x="529560" y="3657600"/>
            <a:ext cx="9071640" cy="301680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endParaRPr b="0" lang="en-US" sz="3200" spc="-1" strike="noStrike">
              <a:solidFill>
                <a:srgbClr val="000000"/>
              </a:solidFill>
              <a:latin typeface="Arial"/>
            </a:endParaRPr>
          </a:p>
        </p:txBody>
      </p:sp>
      <p:sp>
        <p:nvSpPr>
          <p:cNvPr id="36" name=""/>
          <p:cNvSpPr txBox="1"/>
          <p:nvPr/>
        </p:nvSpPr>
        <p:spPr>
          <a:xfrm>
            <a:off x="110880" y="3707640"/>
            <a:ext cx="9916200" cy="1782000"/>
          </a:xfrm>
          <a:prstGeom prst="rect">
            <a:avLst/>
          </a:prstGeom>
          <a:noFill/>
          <a:ln w="0">
            <a:noFill/>
          </a:ln>
        </p:spPr>
        <p:txBody>
          <a:bodyPr lIns="90000" rIns="90000" tIns="45000" bIns="45000" anchor="t">
            <a:noAutofit/>
          </a:bodyPr>
          <a:p>
            <a:r>
              <a:rPr b="0" lang="en-US" sz="1400" spc="-1" strike="noStrike">
                <a:solidFill>
                  <a:srgbClr val="000000"/>
                </a:solidFill>
                <a:latin typeface="Arial"/>
              </a:rPr>
              <a:t>Our third strategy is team-based incentives, aligned with Goal-Setting Theory, which states that specific, challenging goals enhance performance. Offering group bonuses for regional teams meeting sales or production targets fosters collaboration, addressing the SWOT opportunity of expansion into Jamaica and the Dominican Republic by building cohesive teams. This approach reduces turnover by creating a sense of shared purpose, countering the SWOT weakness of internal friction. Implementation involves setting quarterly goals, tracking progress, and distributing bonuses based on team performance. This strategy drives engagement and supports Quenchbliss’s growth in competitive markets (Beverage Industry, 2025; Sophia Learning, n.d., Fundamentals of Motivation).</a:t>
            </a:r>
            <a:endParaRPr b="0" lang="en-US" sz="1400" spc="-1" strike="noStrike">
              <a:solidFill>
                <a:srgbClr val="000000"/>
              </a:solidFill>
              <a:latin typeface="Arial"/>
            </a:endParaRPr>
          </a:p>
          <a:p>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504000" y="226080"/>
            <a:ext cx="9071640" cy="688320"/>
          </a:xfrm>
          <a:prstGeom prst="rect">
            <a:avLst/>
          </a:prstGeom>
          <a:noFill/>
          <a:ln w="0">
            <a:noFill/>
          </a:ln>
        </p:spPr>
        <p:txBody>
          <a:bodyPr lIns="0" rIns="0" tIns="0" bIns="0" anchor="ctr">
            <a:noAutofit/>
          </a:bodyPr>
          <a:p>
            <a:pPr indent="0" algn="ctr">
              <a:spcBef>
                <a:spcPts val="1191"/>
              </a:spcBef>
              <a:spcAft>
                <a:spcPts val="992"/>
              </a:spcAft>
              <a:buNone/>
            </a:pPr>
            <a:r>
              <a:rPr b="1" lang="en-US" sz="1600" spc="-1" strike="noStrike">
                <a:solidFill>
                  <a:srgbClr val="000000"/>
                </a:solidFill>
                <a:latin typeface="Arial"/>
              </a:rPr>
              <a:t>Closing Summary</a:t>
            </a:r>
            <a:br>
              <a:rPr sz="1600"/>
            </a:br>
            <a:endParaRPr b="1" lang="en-US" sz="1600" spc="-1" strike="noStrike">
              <a:solidFill>
                <a:srgbClr val="000000"/>
              </a:solidFill>
              <a:latin typeface="Arial"/>
            </a:endParaRPr>
          </a:p>
        </p:txBody>
      </p:sp>
      <p:sp>
        <p:nvSpPr>
          <p:cNvPr id="38" name="PlaceHolder 2"/>
          <p:cNvSpPr>
            <a:spLocks noGrp="1"/>
          </p:cNvSpPr>
          <p:nvPr>
            <p:ph/>
          </p:nvPr>
        </p:nvSpPr>
        <p:spPr>
          <a:xfrm>
            <a:off x="504000" y="914400"/>
            <a:ext cx="9071640" cy="2743200"/>
          </a:xfrm>
          <a:prstGeom prst="rect">
            <a:avLst/>
          </a:prstGeom>
          <a:noFill/>
          <a:ln w="0">
            <a:noFill/>
          </a:ln>
        </p:spPr>
        <p:txBody>
          <a:bodyPr lIns="0" rIns="0" tIns="0" bIns="0" anchor="t">
            <a:normAutofit/>
          </a:bodyPr>
          <a:p>
            <a:pPr marL="432000" indent="0">
              <a:spcBef>
                <a:spcPts val="1191"/>
              </a:spcBef>
              <a:spcAft>
                <a:spcPts val="992"/>
              </a:spcAft>
              <a:buNone/>
            </a:pPr>
            <a:r>
              <a:rPr b="1" lang="en-US" sz="1000" spc="-1" strike="noStrike">
                <a:solidFill>
                  <a:srgbClr val="000000"/>
                </a:solidFill>
                <a:latin typeface="Arial"/>
              </a:rPr>
              <a:t>Summary:</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Matrix structure clarifies roles, supports global expansion</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Motivational strategies (promotion pathways, recognition, incentives) reduce turnover</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Benefits:</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Enhanced efficiency and scalability</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Increased employee engagement and retention</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Next Steps:</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Pilot matrix structure in El Paso</a:t>
            </a:r>
            <a:endParaRPr b="1" lang="en-US" sz="1000" spc="-1" strike="noStrike">
              <a:solidFill>
                <a:srgbClr val="000000"/>
              </a:solidFill>
              <a:latin typeface="Arial"/>
            </a:endParaRPr>
          </a:p>
          <a:p>
            <a:pPr marL="432000" indent="-324000">
              <a:spcBef>
                <a:spcPts val="1191"/>
              </a:spcBef>
              <a:spcAft>
                <a:spcPts val="992"/>
              </a:spcAft>
              <a:buClr>
                <a:srgbClr val="000000"/>
              </a:buClr>
              <a:buSzPct val="45000"/>
              <a:buFont typeface="Wingdings" charset="2"/>
              <a:buChar char=""/>
            </a:pPr>
            <a:r>
              <a:rPr b="1" lang="en-US" sz="1000" spc="-1" strike="noStrike">
                <a:solidFill>
                  <a:srgbClr val="000000"/>
                </a:solidFill>
                <a:latin typeface="Arial"/>
              </a:rPr>
              <a:t>Launch motivational programs within 6 months</a:t>
            </a:r>
            <a:endParaRPr b="1" lang="en-US" sz="1000" spc="-1" strike="noStrike">
              <a:solidFill>
                <a:srgbClr val="000000"/>
              </a:solidFill>
              <a:latin typeface="Arial"/>
            </a:endParaRPr>
          </a:p>
        </p:txBody>
      </p:sp>
      <p:sp>
        <p:nvSpPr>
          <p:cNvPr id="39" name=""/>
          <p:cNvSpPr txBox="1"/>
          <p:nvPr/>
        </p:nvSpPr>
        <p:spPr>
          <a:xfrm>
            <a:off x="457200" y="3657600"/>
            <a:ext cx="9071640" cy="2743200"/>
          </a:xfrm>
          <a:prstGeom prst="rect">
            <a:avLst/>
          </a:prstGeom>
          <a:noFill/>
          <a:ln w="0">
            <a:noFill/>
          </a:ln>
        </p:spPr>
        <p:txBody>
          <a:bodyPr lIns="0" rIns="0" tIns="0" bIns="0" anchor="t">
            <a:normAutofit/>
          </a:bodyPr>
          <a:p>
            <a:pPr marL="432000" indent="-324000">
              <a:spcBef>
                <a:spcPts val="1191"/>
              </a:spcBef>
              <a:spcAft>
                <a:spcPts val="992"/>
              </a:spcAft>
              <a:buClr>
                <a:srgbClr val="000000"/>
              </a:buClr>
              <a:buSzPct val="45000"/>
              <a:buFont typeface="Wingdings" charset="2"/>
              <a:buChar char=""/>
            </a:pPr>
            <a:endParaRPr b="1" lang="en-US" sz="3200" spc="-1" strike="noStrike">
              <a:solidFill>
                <a:srgbClr val="000000"/>
              </a:solidFill>
              <a:latin typeface="Arial"/>
            </a:endParaRPr>
          </a:p>
        </p:txBody>
      </p:sp>
      <p:sp>
        <p:nvSpPr>
          <p:cNvPr id="40" name=""/>
          <p:cNvSpPr txBox="1"/>
          <p:nvPr/>
        </p:nvSpPr>
        <p:spPr>
          <a:xfrm>
            <a:off x="228600" y="3707640"/>
            <a:ext cx="9601200" cy="1782000"/>
          </a:xfrm>
          <a:prstGeom prst="rect">
            <a:avLst/>
          </a:prstGeom>
          <a:noFill/>
          <a:ln w="0">
            <a:noFill/>
          </a:ln>
        </p:spPr>
        <p:txBody>
          <a:bodyPr lIns="90000" rIns="90000" tIns="45000" bIns="45000" anchor="t">
            <a:noAutofit/>
          </a:bodyPr>
          <a:p>
            <a:r>
              <a:rPr b="0" lang="en-US" sz="1400" spc="-1" strike="noStrike">
                <a:solidFill>
                  <a:srgbClr val="000000"/>
                </a:solidFill>
                <a:latin typeface="Arial"/>
              </a:rPr>
              <a:t>In summary, transitioning to a matrix structure addresses Quenchbliss’s turnover and role ambiguity while enabling expansion into Jamaica and the Dominican Republic. The three motivational strategies—promotion pathways, recognition programs, and team-based incentives—leverage Expectancy Theory, Herzberg’s Two-Factor Theory, and Goal-Setting Theory to boost engagement and retention. These changes enhance efficiency, scalability, and employee satisfaction, positioning Quenchbliss for success in the craft beverage market. Next steps include piloting the matrix structure in El Paso and launching motivational programs within six months. This strategic plan ensures Quenchbliss thrives in a competitive landscape (Sophia Learning, n.d., Managing Change).</a:t>
            </a:r>
            <a:endParaRPr b="0" lang="en-US" sz="1400" spc="-1" strike="noStrike">
              <a:solidFill>
                <a:srgbClr val="000000"/>
              </a:solidFill>
              <a:latin typeface="Arial"/>
            </a:endParaRPr>
          </a:p>
          <a:p>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spcBef>
                <a:spcPts val="1191"/>
              </a:spcBef>
              <a:spcAft>
                <a:spcPts val="992"/>
              </a:spcAft>
              <a:buNone/>
            </a:pPr>
            <a:r>
              <a:rPr b="1" lang="en-US" sz="1600" spc="-1" strike="noStrike">
                <a:solidFill>
                  <a:srgbClr val="000000"/>
                </a:solidFill>
                <a:latin typeface="Arial"/>
              </a:rPr>
              <a:t>References</a:t>
            </a:r>
            <a:br>
              <a:rPr sz="1600"/>
            </a:br>
            <a:endParaRPr b="1" lang="en-US" sz="1600" spc="-1" strike="noStrike">
              <a:solidFill>
                <a:srgbClr val="000000"/>
              </a:solidFill>
              <a:latin typeface="Arial"/>
            </a:endParaRPr>
          </a:p>
        </p:txBody>
      </p:sp>
      <p:sp>
        <p:nvSpPr>
          <p:cNvPr id="42" name=""/>
          <p:cNvSpPr txBox="1"/>
          <p:nvPr/>
        </p:nvSpPr>
        <p:spPr>
          <a:xfrm>
            <a:off x="457200" y="1077120"/>
            <a:ext cx="10220760" cy="1829880"/>
          </a:xfrm>
          <a:prstGeom prst="rect">
            <a:avLst/>
          </a:prstGeom>
          <a:noFill/>
          <a:ln w="0">
            <a:noFill/>
          </a:ln>
        </p:spPr>
        <p:txBody>
          <a:bodyPr lIns="90000" rIns="90000" tIns="45000" bIns="45000" anchor="t">
            <a:noAutofit/>
          </a:bodyPr>
          <a:p>
            <a:r>
              <a:rPr b="1" lang="en-US" sz="1000" spc="-1" strike="noStrike">
                <a:solidFill>
                  <a:srgbClr val="000000"/>
                </a:solidFill>
                <a:latin typeface="Arial"/>
              </a:rPr>
              <a:t>Beverage Industry. (2025). Craft soda market trends for 2025. Beverage Industry Journal. https://www.beverageindustry.com/articles/97466-state-of-the-beverage-industry-carbonated-soft-drinks-see-volume-declines</a:t>
            </a:r>
            <a:endParaRPr b="0" lang="en-US" sz="1000" spc="-1" strike="noStrike">
              <a:solidFill>
                <a:srgbClr val="000000"/>
              </a:solidFill>
              <a:latin typeface="Arial"/>
            </a:endParaRPr>
          </a:p>
          <a:p>
            <a:r>
              <a:rPr b="1" lang="en-US" sz="1000" spc="-1" strike="noStrike">
                <a:solidFill>
                  <a:srgbClr val="000000"/>
                </a:solidFill>
                <a:latin typeface="Arial"/>
              </a:rPr>
              <a:t>Mintel. (2024). Consumer trends in the craft beverage industry. Mintel Reports. https://www.mintel.com/craft-beverage-trends-2024</a:t>
            </a:r>
            <a:endParaRPr b="0" lang="en-US" sz="1000" spc="-1" strike="noStrike">
              <a:solidFill>
                <a:srgbClr val="000000"/>
              </a:solidFill>
              <a:latin typeface="Arial"/>
            </a:endParaRPr>
          </a:p>
          <a:p>
            <a:r>
              <a:rPr b="1" lang="en-US" sz="1000" spc="-1" strike="noStrike">
                <a:solidFill>
                  <a:srgbClr val="000000"/>
                </a:solidFill>
                <a:latin typeface="Arial"/>
              </a:rPr>
              <a:t>Sophia Learning. (n.d.). Fundamentals of motivation. Organizational Behavior [MOOC]. Sophia. https://app.sophia.org/course_preview/organizational-behavior/challenge-2-5/1/14502/fundamentals-of-motivation</a:t>
            </a:r>
            <a:endParaRPr b="0" lang="en-US" sz="1000" spc="-1" strike="noStrike">
              <a:solidFill>
                <a:srgbClr val="000000"/>
              </a:solidFill>
              <a:latin typeface="Arial"/>
            </a:endParaRPr>
          </a:p>
          <a:p>
            <a:r>
              <a:rPr b="1" lang="en-US" sz="1000" spc="-1" strike="noStrike">
                <a:solidFill>
                  <a:srgbClr val="000000"/>
                </a:solidFill>
                <a:latin typeface="Arial"/>
              </a:rPr>
              <a:t>Sophia Learning. (n.d.). Organizational designs and structures. Organizational Behavior [MOOC]. Sophia. https://app.sophia.org/course_preview/organizational-behavior/challenge-1-2/3/14481/organizational-designs-and-structures</a:t>
            </a:r>
            <a:endParaRPr b="0" lang="en-US" sz="1000" spc="-1" strike="noStrike">
              <a:solidFill>
                <a:srgbClr val="000000"/>
              </a:solidFill>
              <a:latin typeface="Arial"/>
            </a:endParaRPr>
          </a:p>
          <a:p>
            <a:endParaRPr b="0" lang="en-US" sz="1000" spc="-1" strike="noStrike">
              <a:solidFill>
                <a:srgbClr val="000000"/>
              </a:solidFill>
              <a:latin typeface="Arial"/>
            </a:endParaRPr>
          </a:p>
        </p:txBody>
      </p:sp>
      <p:sp>
        <p:nvSpPr>
          <p:cNvPr id="43" name=""/>
          <p:cNvSpPr txBox="1"/>
          <p:nvPr/>
        </p:nvSpPr>
        <p:spPr>
          <a:xfrm>
            <a:off x="228600" y="2907000"/>
            <a:ext cx="9601200" cy="1582200"/>
          </a:xfrm>
          <a:prstGeom prst="rect">
            <a:avLst/>
          </a:prstGeom>
          <a:noFill/>
          <a:ln w="0">
            <a:noFill/>
          </a:ln>
        </p:spPr>
        <p:txBody>
          <a:bodyPr lIns="90000" rIns="90000" tIns="45000" bIns="45000" anchor="t">
            <a:noAutofit/>
          </a:bodyPr>
          <a:p>
            <a:r>
              <a:rPr b="0" lang="en-US" sz="1400" spc="-1" strike="noStrike">
                <a:solidFill>
                  <a:srgbClr val="000000"/>
                </a:solidFill>
                <a:latin typeface="Arial"/>
              </a:rPr>
              <a:t>This slide lists the references used to develop our recommendations, ensuring credibility and alignment with Quenchbliss’s needs. The Beverage Industry (2025) and Mintel (2024) reports provide insights into craft soda market trends, supporting our expansion and motivation strategies. Sophia Learning’s tutorials on Fundamentals of Motivation and Organizational Designs and Structures offer theoretical foundations for our matrix structure and motivational plans. These sources, cited in APA format, validate our approach to reducing turnover and scaling operations. Thank you for considering these recommendations to drive Quenchbliss’s future success.</a:t>
            </a:r>
            <a:endParaRPr b="0" lang="en-US" sz="1400" spc="-1" strike="noStrike">
              <a:solidFill>
                <a:srgbClr val="000000"/>
              </a:solidFill>
              <a:latin typeface="Arial"/>
            </a:endParaRPr>
          </a:p>
          <a:p>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49</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2025-06-04T11:27:34Z</dcterms:created>
  <dc:creator/>
  <dc:description/>
  <dc:language>en-US</dc:language>
  <cp:lastModifiedBy/>
  <cp:lastPrinted>2025-06-04T12:56:48Z</cp:lastPrinted>
  <dcterms:modified xsi:type="dcterms:W3CDTF">2025-06-04T12:56:04Z</dcterms:modified>
  <cp:revision>4</cp:revision>
  <dc:subject/>
  <dc:title/>
</cp:coreProperties>
</file>